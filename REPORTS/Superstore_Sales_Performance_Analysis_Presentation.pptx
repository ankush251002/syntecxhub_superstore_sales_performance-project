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Yearly Sales Trend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B8A6B"/>
            </a:solidFill>
          </c:spPr>
          <c:cat>
            <c:strRef>
              <c:f>Sheet1!$A$2:$A$3</c:f>
              <c:strCache>
                <c:ptCount val="2"/>
                <c:pt idx="0">
                  <c:v>2019</c:v>
                </c:pt>
                <c:pt idx="1">
                  <c:v>2020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560000</c:v>
                </c:pt>
                <c:pt idx="1">
                  <c:v>1000000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5 Sub-Categories by Sales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B3D2E"/>
            </a:solidFill>
          </c:spPr>
          <c:cat>
            <c:strRef>
              <c:f>Sheet1!$A$2:$A$6</c:f>
              <c:strCache>
                <c:ptCount val="5"/>
                <c:pt idx="0">
                  <c:v>Phones</c:v>
                </c:pt>
                <c:pt idx="1">
                  <c:v>Chairs</c:v>
                </c:pt>
                <c:pt idx="2">
                  <c:v>Storage</c:v>
                </c:pt>
                <c:pt idx="3">
                  <c:v>Tables</c:v>
                </c:pt>
                <c:pt idx="4">
                  <c:v>Binders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196000</c:v>
                </c:pt>
                <c:pt idx="1">
                  <c:v>181000</c:v>
                </c:pt>
                <c:pt idx="2">
                  <c:v>150000</c:v>
                </c:pt>
                <c:pt idx="3">
                  <c:v>119000</c:v>
                </c:pt>
                <c:pt idx="4">
                  <c:v>175000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Regional Sales Contribution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33.4</c:v>
                </c:pt>
                <c:pt idx="1">
                  <c:v>28.8</c:v>
                </c:pt>
                <c:pt idx="2">
                  <c:v>21.8</c:v>
                </c:pt>
                <c:pt idx="3">
                  <c:v>16.1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Sales vs Profit by Category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Furniture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Sheet1!$A$2:$A$7</c:f>
              <c:numCache>
                <c:formatCode>General</c:formatCode>
                <c:ptCount val="6"/>
                <c:pt idx="0">
                  <c:v>200</c:v>
                </c:pt>
                <c:pt idx="1">
                  <c:v>800</c:v>
                </c:pt>
                <c:pt idx="2">
                  <c:v>1500</c:v>
                </c:pt>
                <c:pt idx="3">
                  <c:v>2500</c:v>
                </c:pt>
                <c:pt idx="4">
                  <c:v>3500</c:v>
                </c:pt>
                <c:pt idx="5">
                  <c:v>4200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-300</c:v>
                </c:pt>
                <c:pt idx="1">
                  <c:v>200</c:v>
                </c:pt>
                <c:pt idx="2">
                  <c:v>-800</c:v>
                </c:pt>
                <c:pt idx="3">
                  <c:v>400</c:v>
                </c:pt>
                <c:pt idx="4">
                  <c:v>-1200</c:v>
                </c:pt>
                <c:pt idx="5">
                  <c:v>600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Technology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Sheet1!$A$10:$A$15</c:f>
              <c:numCache>
                <c:formatCode>General</c:formatCode>
                <c:ptCount val="6"/>
                <c:pt idx="0">
                  <c:v>300</c:v>
                </c:pt>
                <c:pt idx="1">
                  <c:v>900</c:v>
                </c:pt>
                <c:pt idx="2">
                  <c:v>1800</c:v>
                </c:pt>
                <c:pt idx="3">
                  <c:v>2800</c:v>
                </c:pt>
                <c:pt idx="4">
                  <c:v>3600</c:v>
                </c:pt>
                <c:pt idx="5">
                  <c:v>4500</c:v>
                </c:pt>
              </c:numCache>
            </c:numRef>
          </c:xVal>
          <c:yVal>
            <c:numRef>
              <c:f>Sheet1!$B$10:$B$15</c:f>
              <c:numCache>
                <c:formatCode>General</c:formatCode>
                <c:ptCount val="6"/>
                <c:pt idx="0">
                  <c:v>500</c:v>
                </c:pt>
                <c:pt idx="1">
                  <c:v>1200</c:v>
                </c:pt>
                <c:pt idx="2">
                  <c:v>800</c:v>
                </c:pt>
                <c:pt idx="3">
                  <c:v>2200</c:v>
                </c:pt>
                <c:pt idx="4">
                  <c:v>4800</c:v>
                </c:pt>
                <c:pt idx="5">
                  <c:v>6800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Sheet1!$B$17</c:f>
              <c:strCache>
                <c:ptCount val="1"/>
                <c:pt idx="0">
                  <c:v>Office Supplies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Sheet1!$A$18:$A$23</c:f>
              <c:numCache>
                <c:formatCode>General</c:formatCode>
                <c:ptCount val="6"/>
                <c:pt idx="0">
                  <c:v>150</c:v>
                </c:pt>
                <c:pt idx="1">
                  <c:v>600</c:v>
                </c:pt>
                <c:pt idx="2">
                  <c:v>1200</c:v>
                </c:pt>
                <c:pt idx="3">
                  <c:v>2000</c:v>
                </c:pt>
                <c:pt idx="4">
                  <c:v>3000</c:v>
                </c:pt>
                <c:pt idx="5">
                  <c:v>3800</c:v>
                </c:pt>
              </c:numCache>
            </c:numRef>
          </c:xVal>
          <c:yVal>
            <c:numRef>
              <c:f>Sheet1!$B$18:$B$23</c:f>
              <c:numCache>
                <c:formatCode>General</c:formatCode>
                <c:ptCount val="6"/>
                <c:pt idx="0">
                  <c:v>100</c:v>
                </c:pt>
                <c:pt idx="1">
                  <c:v>300</c:v>
                </c:pt>
                <c:pt idx="2">
                  <c:v>-200</c:v>
                </c:pt>
                <c:pt idx="3">
                  <c:v>500</c:v>
                </c:pt>
                <c:pt idx="4">
                  <c:v>900</c:v>
                </c:pt>
                <c:pt idx="5">
                  <c:v>1500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15-Day Sales Forecast (illustrative)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Sales</c:v>
                </c:pt>
              </c:strCache>
            </c:strRef>
          </c:tx>
          <c:spPr>
            <a:ln w="31750">
              <a:solidFill>
                <a:srgbClr val="1B8A6B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3.0</c:v>
                </c:pt>
                <c:pt idx="1">
                  <c:v>3.4</c:v>
                </c:pt>
                <c:pt idx="2">
                  <c:v>3.1</c:v>
                </c:pt>
                <c:pt idx="3">
                  <c:v>3.8</c:v>
                </c:pt>
                <c:pt idx="4">
                  <c:v>4.2</c:v>
                </c:pt>
                <c:pt idx="5">
                  <c:v>3.6</c:v>
                </c:pt>
                <c:pt idx="6">
                  <c:v>3.2</c:v>
                </c:pt>
                <c:pt idx="7">
                  <c:v>3.9</c:v>
                </c:pt>
                <c:pt idx="8">
                  <c:v>4.5</c:v>
                </c:pt>
                <c:pt idx="9">
                  <c:v>4.1</c:v>
                </c:pt>
                <c:pt idx="10">
                  <c:v>3.7</c:v>
                </c:pt>
                <c:pt idx="11">
                  <c:v>4.4</c:v>
                </c:pt>
                <c:pt idx="12">
                  <c:v>4.8</c:v>
                </c:pt>
                <c:pt idx="13">
                  <c:v>4.3</c:v>
                </c:pt>
                <c:pt idx="14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788920"/>
            <a:ext cx="2926080" cy="50800"/>
          </a:xfrm>
          <a:prstGeom prst="rect">
            <a:avLst/>
          </a:prstGeom>
          <a:solidFill>
            <a:srgbClr val="2E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Superstore Sales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EC4A6"/>
                </a:solidFill>
              </a:defRPr>
            </a:pPr>
            <a:r>
              <a:t>End-to-End Data Analytics &amp; Business Intelligence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Prepared by: Ankush Saini  |  Data Analytics Intern @ SYNTECXHUB</a:t>
            </a:r>
          </a:p>
          <a:p>
            <a:pPr>
              <a:defRPr sz="1400">
                <a:solidFill>
                  <a:srgbClr val="BFD9D0"/>
                </a:solidFill>
              </a:defRPr>
            </a:pPr>
            <a:r>
              <a:t>Tools: Python (Pandas, NumPy, Matplotlib, Seaborn)  •  Power BI Desktop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▸ Project Overview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▸ Dataset Description &amp; Pre-processing Pipeline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▸ Exploratory Data Analysis — Key Visual Insights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▸ Correlation Analysis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▸ Power BI Executive Dashboard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▸ 15-Day Sales Forecast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▸ Business Recommendations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▸ Limitations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F5C"/>
                </a:solidFill>
              </a:defRPr>
            </a:pPr>
            <a:r>
              <a:t>Retail / Sales Analytics — translating raw transactions into actionable business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What we set out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Complete EDA: </a:t>
            </a:r>
            <a:r>
              <a:rPr sz="1500">
                <a:solidFill>
                  <a:srgbClr val="1A1A1A"/>
                </a:solidFill>
              </a:rPr>
              <a:t>Deep exploratory analysis of 5,901 Superstore sales records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Data Cleaning: </a:t>
            </a:r>
            <a:r>
              <a:rPr sz="1500">
                <a:solidFill>
                  <a:srgbClr val="1A1A1A"/>
                </a:solidFill>
              </a:rPr>
              <a:t>Missing-value handling, empty-column drops, data-type correction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Feature Engineering: </a:t>
            </a:r>
            <a:r>
              <a:rPr sz="1500">
                <a:solidFill>
                  <a:srgbClr val="1A1A1A"/>
                </a:solidFill>
              </a:rPr>
              <a:t>Temporal (Year/Month) + financial (Profit Margin %) features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Trend Identification: </a:t>
            </a:r>
            <a:r>
              <a:rPr sz="1500">
                <a:solidFill>
                  <a:srgbClr val="1A1A1A"/>
                </a:solidFill>
              </a:rPr>
              <a:t>Sales patterns across years, regions, and sub-categories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Interactive BI: </a:t>
            </a:r>
            <a:r>
              <a:rPr sz="1500">
                <a:solidFill>
                  <a:srgbClr val="1A1A1A"/>
                </a:solidFill>
              </a:rPr>
              <a:t>Power BI dashboard for operational monitoring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Predictive Analytics: </a:t>
            </a:r>
            <a:r>
              <a:rPr sz="1500">
                <a:solidFill>
                  <a:srgbClr val="1A1A1A"/>
                </a:solidFill>
              </a:rPr>
              <a:t>15-day sales forecast using Power BI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Project snapshot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057400"/>
            <a:ext cx="25603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55F5C"/>
                </a:solidFill>
              </a:defRPr>
            </a:pPr>
            <a:r>
              <a:t>TOTAL SALES</a:t>
            </a:r>
          </a:p>
          <a:p>
            <a:pPr algn="ctr">
              <a:defRPr sz="2600" b="1">
                <a:solidFill>
                  <a:srgbClr val="0B3D2E"/>
                </a:solidFill>
              </a:defRPr>
            </a:pPr>
            <a:r>
              <a:t>$1.57M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2057400"/>
            <a:ext cx="25603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55F5C"/>
                </a:solidFill>
              </a:defRPr>
            </a:pPr>
            <a:r>
              <a:t>TOTAL PROFIT</a:t>
            </a:r>
          </a:p>
          <a:p>
            <a:pPr algn="ctr">
              <a:defRPr sz="2600" b="1">
                <a:solidFill>
                  <a:srgbClr val="0B3D2E"/>
                </a:solidFill>
              </a:defRPr>
            </a:pPr>
            <a:r>
              <a:t>$175.26K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474720"/>
            <a:ext cx="25603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55F5C"/>
                </a:solidFill>
              </a:defRPr>
            </a:pPr>
            <a:r>
              <a:t>AVG PROFIT MARGIN</a:t>
            </a:r>
          </a:p>
          <a:p>
            <a:pPr algn="ctr">
              <a:defRPr sz="2600" b="1">
                <a:solidFill>
                  <a:srgbClr val="0B3D2E"/>
                </a:solidFill>
              </a:defRPr>
            </a:pPr>
            <a:r>
              <a:t>10.06%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3474720"/>
            <a:ext cx="25603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55F5C"/>
                </a:solidFill>
              </a:defRPr>
            </a:pPr>
            <a:r>
              <a:t>AVG DELIVERY</a:t>
            </a:r>
          </a:p>
          <a:p>
            <a:pPr algn="ctr">
              <a:defRPr sz="2600" b="1">
                <a:solidFill>
                  <a:srgbClr val="0B3D2E"/>
                </a:solidFill>
              </a:defRPr>
            </a:pPr>
            <a:r>
              <a:t>4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93776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Records: </a:t>
            </a:r>
            <a:r>
              <a:rPr sz="1400">
                <a:solidFill>
                  <a:srgbClr val="1A1A1A"/>
                </a:solidFill>
              </a:rPr>
              <a:t>5,901 clean rows • 21 final features • 0 missing values • 0 duplicates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Domain: </a:t>
            </a:r>
            <a:r>
              <a:rPr sz="1400">
                <a:solidFill>
                  <a:srgbClr val="1A1A1A"/>
                </a:solidFill>
              </a:rPr>
              <a:t>Retail operations monitoring — sales, profitability, volume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Deliverables: </a:t>
            </a:r>
            <a:r>
              <a:rPr sz="1400">
                <a:solidFill>
                  <a:srgbClr val="1A1A1A"/>
                </a:solidFill>
              </a:rPr>
              <a:t>Clean dataset • Python EDA notebook • Power BI dashboard • MDD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Dataset &amp; Pre-processing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F5C"/>
                </a:solidFill>
              </a:defRPr>
            </a:pPr>
            <a:r>
              <a:t>From raw Excel to analysis-ready data — 5 steps, fully reproducible in Python/Pandas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3108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1. Data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90472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pd.read_excel() → 5,901 rows × 23 columns; structure inspected with head() &amp; info()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32888"/>
            <a:ext cx="3108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2. Missing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51460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Returns: 5,614 nulls → filled with 0 (clean numeric return indicator) • ind1 &amp; ind2: 100% null → dropped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57016"/>
            <a:ext cx="3108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3. 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538728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data.duplicated() check → 0 duplicate records found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81144"/>
            <a:ext cx="3108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4.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562856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Order Date → DateTime • Year &amp; Month extracted • Profit Margin (%) = (Profit / Sales) × 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605272"/>
            <a:ext cx="3108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5.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586984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Clean_Superstores_sales.xlsx — single source of truth for the Power BI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EDA Insight 1 — Sales Trends &amp; Product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Yearly Sales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2020 sales (~$1.0M) nearly doubled 2019 (~$0.56M)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Clear macro growth trajectory — business expanding rapidly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Validates investment in forecasting &amp; inventory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77639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Top Sub-Categories by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Phones lead at ~$196K, followed by Chairs (~$181K) &amp; Storage (~$150K)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Binders, Tables, Accessories, Paper also strong revenue drivers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Long tail: Envelopes, Fasteners, Labels, Art underperform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554480"/>
          <a:ext cx="539496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4114800"/>
          <a:ext cx="539496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EDA Insight 2 — Regional Share &amp; Profitability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Sales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West: </a:t>
            </a:r>
            <a:r>
              <a:rPr sz="1500">
                <a:solidFill>
                  <a:srgbClr val="1A1A1A"/>
                </a:solidFill>
              </a:rPr>
              <a:t>33.4% — largest market share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East: </a:t>
            </a:r>
            <a:r>
              <a:rPr sz="1500">
                <a:solidFill>
                  <a:srgbClr val="1A1A1A"/>
                </a:solidFill>
              </a:rPr>
              <a:t>28.8% — strong second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Central: </a:t>
            </a:r>
            <a:r>
              <a:rPr sz="1500">
                <a:solidFill>
                  <a:srgbClr val="1A1A1A"/>
                </a:solidFill>
              </a:rPr>
              <a:t>21.8% — mid-tier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South: </a:t>
            </a:r>
            <a:r>
              <a:rPr sz="1500">
                <a:solidFill>
                  <a:srgbClr val="1A1A1A"/>
                </a:solidFill>
              </a:rPr>
              <a:t>16.1% — smallest, growth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206240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Sales vs Profit Scatter — Critical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Technology: highest-margin transactions, biggest profit outliers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Furniture: several high-sales / negative-profit transactions — discount or cost issue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Office Supplies: tight cluster around break-even — thin margins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554480"/>
          <a:ext cx="539496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4206240"/>
          <a:ext cx="539496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F5C"/>
                </a:solidFill>
              </a:defRPr>
            </a:pPr>
            <a:r>
              <a:t>Linear relationships between numeric financial metrics (Seaborn heatmap)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5120640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91540"/>
                <a:gridCol w="891540"/>
                <a:gridCol w="891540"/>
                <a:gridCol w="891540"/>
              </a:tblGrid>
              <a:tr h="6400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Profit Margin (%)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A9C4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A9C4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6B8FD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A9C4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6B8F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0.03</a:t>
                      </a:r>
                    </a:p>
                  </a:txBody>
                  <a:tcPr>
                    <a:solidFill>
                      <a:srgbClr val="6B8FD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1A"/>
                          </a:solidFill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A9C4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6B8F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0.47</a:t>
                      </a:r>
                    </a:p>
                  </a:txBody>
                  <a:tcPr>
                    <a:solidFill>
                      <a:srgbClr val="E88F7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Profit Margin (%)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6B8F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0.03</a:t>
                      </a:r>
                    </a:p>
                  </a:txBody>
                  <a:tcPr>
                    <a:solidFill>
                      <a:srgbClr val="6B8F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0.47</a:t>
                      </a:r>
                    </a:p>
                  </a:txBody>
                  <a:tcPr>
                    <a:solidFill>
                      <a:srgbClr val="E88F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309360" y="1463040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0116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Sales ↔ Profit: 0.33: </a:t>
            </a:r>
            <a:r>
              <a:rPr sz="1400">
                <a:solidFill>
                  <a:srgbClr val="1A1A1A"/>
                </a:solidFill>
              </a:rPr>
              <a:t>Moderate positive — higher sales generally yield higher profit, but with significant variance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Profit ↔ Profit Margin: 0.47: </a:t>
            </a:r>
            <a:r>
              <a:rPr sz="1400">
                <a:solidFill>
                  <a:srgbClr val="1A1A1A"/>
                </a:solidFill>
              </a:rPr>
              <a:t>Strongest relationship — margin management is the biggest profitability lever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Quantity ↔ Profit: 0.07: </a:t>
            </a:r>
            <a:r>
              <a:rPr sz="1400">
                <a:solidFill>
                  <a:srgbClr val="1A1A1A"/>
                </a:solidFill>
              </a:rPr>
              <a:t>Weak — selling more units alone doesn't guarantee profit (discounting erodes it)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Sales ↔ Profit Margin: 0.01: </a:t>
            </a:r>
            <a:r>
              <a:rPr sz="1400">
                <a:solidFill>
                  <a:srgbClr val="1A1A1A"/>
                </a:solidFill>
              </a:rPr>
              <a:t>Essentially zero — high-revenue transactions are NOT necessarily high-margin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Power BI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F5C"/>
                </a:solidFill>
              </a:defRPr>
            </a:pPr>
            <a:r>
              <a:t>Interactive operational monitoring — filter by Year, State, Payment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55F5C"/>
                </a:solidFill>
              </a:defRPr>
            </a:pPr>
            <a:r>
              <a:t>TOTAL SALES</a:t>
            </a:r>
          </a:p>
          <a:p>
            <a:pPr algn="ctr">
              <a:defRPr sz="2600" b="1">
                <a:solidFill>
                  <a:srgbClr val="0B3D2E"/>
                </a:solidFill>
              </a:defRPr>
            </a:pPr>
            <a:r>
              <a:t>$1.57M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46304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55F5C"/>
                </a:solidFill>
              </a:defRPr>
            </a:pPr>
            <a:r>
              <a:t>TOTAL PROFIT</a:t>
            </a:r>
          </a:p>
          <a:p>
            <a:pPr algn="ctr">
              <a:defRPr sz="2600" b="1">
                <a:solidFill>
                  <a:srgbClr val="0B3D2E"/>
                </a:solidFill>
              </a:defRPr>
            </a:pPr>
            <a:r>
              <a:t>$175.26K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55F5C"/>
                </a:solidFill>
              </a:defRPr>
            </a:pPr>
            <a:r>
              <a:t>AVG PROFIT MARGIN</a:t>
            </a:r>
          </a:p>
          <a:p>
            <a:pPr algn="ctr">
              <a:defRPr sz="2600" b="1">
                <a:solidFill>
                  <a:srgbClr val="0B3D2E"/>
                </a:solidFill>
              </a:defRPr>
            </a:pPr>
            <a:r>
              <a:t>10.06%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463040"/>
            <a:ext cx="26517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55F5C"/>
                </a:solidFill>
              </a:defRPr>
            </a:pPr>
            <a:r>
              <a:t>AVG DELIVERY DAYS</a:t>
            </a:r>
          </a:p>
          <a:p>
            <a:pPr algn="ctr">
              <a:defRPr sz="2600" b="1">
                <a:solidFill>
                  <a:srgbClr val="0B3D2E"/>
                </a:solidFill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1115568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Dashboard components → business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KPI Cards: </a:t>
            </a:r>
            <a:r>
              <a:rPr sz="1400">
                <a:solidFill>
                  <a:srgbClr val="1A1A1A"/>
                </a:solidFill>
              </a:rPr>
              <a:t>Sales, Profit, Avg Profit Margin, Avg Delivery Days — at-a-glance executive health check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Sales Trend Over Time: </a:t>
            </a:r>
            <a:r>
              <a:rPr sz="1400">
                <a:solidFill>
                  <a:srgbClr val="1A1A1A"/>
                </a:solidFill>
              </a:rPr>
              <a:t>Line chart by Year/Month — seasonal patterns &amp; growth trajectory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Top 5 Category by Sales: </a:t>
            </a:r>
            <a:r>
              <a:rPr sz="1400">
                <a:solidFill>
                  <a:srgbClr val="1A1A1A"/>
                </a:solidFill>
              </a:rPr>
              <a:t>Phones, Storage, Tables, Paper, Supplies — where revenue concentrates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Regional Sales Contribution: </a:t>
            </a:r>
            <a:r>
              <a:rPr sz="1400">
                <a:solidFill>
                  <a:srgbClr val="1A1A1A"/>
                </a:solidFill>
              </a:rPr>
              <a:t>Donut chart — West 33.37% ($522K), East 28.75% ($450K), Central 21.78% ($341K), South 16.1% ($252K)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Sales by Ship Mode: </a:t>
            </a:r>
            <a:r>
              <a:rPr sz="1400">
                <a:solidFill>
                  <a:srgbClr val="1A1A1A"/>
                </a:solidFill>
              </a:rPr>
              <a:t>Standard Class $912K dominates; Same Day only $96K — logistics mix insight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Sales by Segment: </a:t>
            </a:r>
            <a:r>
              <a:rPr sz="1400">
                <a:solidFill>
                  <a:srgbClr val="1A1A1A"/>
                </a:solidFill>
              </a:rPr>
              <a:t>Consumer 48%, Corporate 33%, Home Office 19% — who is buying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B3D2E"/>
                </a:solidFill>
              </a:rPr>
              <a:t>▸ Slicers: </a:t>
            </a:r>
            <a:r>
              <a:rPr sz="1400">
                <a:solidFill>
                  <a:srgbClr val="1A1A1A"/>
                </a:solidFill>
              </a:rPr>
              <a:t>Year, State, Payment Mode (Cards / COD / Online) — granular drill-down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15-Day Sales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F5C"/>
                </a:solidFill>
              </a:defRPr>
            </a:pPr>
            <a:r>
              <a:t>Power BI built-in forecasting on daily Order Date → Sales time 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Historical daily sales (Nov–Dec 2020) feed a time-series line chart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Power BI forecasting projects the next 15 days into Jan 2021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Shaded band = upper &amp; lower confidence bounds for demand planning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Interactive date slider lets users scrub the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72000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Top states by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California $335K • New York $187K • Texas $116K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▸ Washington $93K • Pennsylvania $82K • Ohio $68K • Illinois $64K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1645920"/>
          <a:ext cx="53949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F5C"/>
                </a:solidFill>
              </a:defRPr>
            </a:pPr>
            <a:r>
              <a:t>Data-driven actions from the analysis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93192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1. Margin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444752"/>
            <a:ext cx="7040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Use Profit Margin % &amp; the Sales-vs-Profit scatter to flag high-sales / negative-profit sub-categories. Review discount strategies and supplier costs for those items.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61488"/>
            <a:ext cx="393192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2. Regional Resource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7040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Shift marketing budget &amp; supply-chain capacity toward West (33.4%) and East (28.8%); treat South (16.1%) as a targeted growth market.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59935"/>
            <a:ext cx="393192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3. Temporal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041648"/>
            <a:ext cx="7040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Align inventory &amp; staffing with yearly/monthly trend peaks — scale up ahead of historically high-sales months.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58383"/>
            <a:ext cx="393192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4. Proactive Inventory (15-Day Forecast)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340096"/>
            <a:ext cx="7040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Match the 15-day forecast window to supply-chain lead times so high-velocity items are restocked before predicted spikes.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Forecast scope: </a:t>
            </a:r>
            <a:r>
              <a:rPr sz="1500">
                <a:solidFill>
                  <a:srgbClr val="1A1A1A"/>
                </a:solidFill>
              </a:rPr>
              <a:t>15-day forecast lives only in Power BI; no ML models in the Python pipeline yet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No Discount feature: </a:t>
            </a:r>
            <a:r>
              <a:rPr sz="1500">
                <a:solidFill>
                  <a:srgbClr val="1A1A1A"/>
                </a:solidFill>
              </a:rPr>
              <a:t>Dataset lacks discount % — can't fully diagnose negative-profit transactions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No CLV modeling: </a:t>
            </a:r>
            <a:r>
              <a:rPr sz="1500">
                <a:solidFill>
                  <a:srgbClr val="1A1A1A"/>
                </a:solidFill>
              </a:rPr>
              <a:t>Customer ID exists but retention / frequency / lifetime value not yet modeled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463040"/>
            <a:ext cx="5394960" cy="411480"/>
          </a:xfrm>
          <a:prstGeom prst="rect">
            <a:avLst/>
          </a:prstGeom>
          <a:solidFill>
            <a:srgbClr val="1B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01168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ML forecasting in Python: </a:t>
            </a:r>
            <a:r>
              <a:rPr sz="1500">
                <a:solidFill>
                  <a:srgbClr val="1A1A1A"/>
                </a:solidFill>
              </a:rPr>
              <a:t>ARIMA, Prophet, or XGBoost for 6–12 month profit &amp; item-level demand forecasts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Discount impact analysis: </a:t>
            </a:r>
            <a:r>
              <a:rPr sz="1500">
                <a:solidFill>
                  <a:srgbClr val="1A1A1A"/>
                </a:solidFill>
              </a:rPr>
              <a:t>Incorporate discount % to explain margin erosion on high-sales orders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B3D2E"/>
                </a:solidFill>
              </a:rPr>
              <a:t>▸ Customer Lifetime Value: </a:t>
            </a:r>
            <a:r>
              <a:rPr sz="1500">
                <a:solidFill>
                  <a:srgbClr val="1A1A1A"/>
                </a:solidFill>
              </a:rPr>
              <a:t>RFM segmentation &amp; CLV modeling by Customer ID for retention strategy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743200"/>
            <a:ext cx="2926080" cy="50800"/>
          </a:xfrm>
          <a:prstGeom prst="rect">
            <a:avLst/>
          </a:prstGeom>
          <a:solidFill>
            <a:srgbClr val="2EC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EC4A6"/>
                </a:solidFill>
              </a:defRPr>
            </a:pPr>
            <a:r>
              <a:t>Superstore Sales Performance Analysis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Ankush Saini  •  Data Analytics Intern @ SYNTECXHUB</a:t>
            </a:r>
          </a:p>
          <a:p>
            <a:pPr>
              <a:defRPr sz="1400">
                <a:solidFill>
                  <a:srgbClr val="BFD9D0"/>
                </a:solidFill>
              </a:defRPr>
            </a:pPr>
            <a:r>
              <a:t>Python  •  Power BI  •  EDA  • 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